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463040"/>
            <a:ext cx="112471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200" b="1">
                <a:solidFill>
                  <a:srgbClr val="2E4A7F"/>
                </a:solidFill>
                <a:latin typeface="Malgun Gothic"/>
              </a:rPr>
              <a:t>오픈소스 VLM 은 언제 원을 공으로 보는가?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0">
                <a:solidFill>
                  <a:srgbClr val="333333"/>
                </a:solidFill>
                <a:latin typeface="Malgun Gothic"/>
              </a:rPr>
              <a:t>5 개 오픈소스 VLM 에서 추상→물리 shortcut 의
행동 / 인과 / 픽셀 수준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Malgun Gothic"/>
              </a:rPr>
              <a:t>Qwen2.5-VL · LLaVA-1.5 · LLaVA-Next · Idefics2 · InternVL3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Malgun Gothic"/>
              </a:rPr>
              <a:t>논문 발표용 / 2026-04-26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동기 — VLM 의 shortcut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흰 배경의 검은 원을 보고 "공이 떨어진다" 라고 말하는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>
                <a:solidFill>
                  <a:srgbClr val="333333"/>
                </a:solidFill>
                <a:latin typeface="Malgun Gothic"/>
              </a:rPr>
              <a:t>• 프롬프트는 open-ended ("이 다음에 무슨 일이 일어날까?").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이미지에는 중력 단서, 지면, 그림자, 텍스처가 *전혀 없음*. 사람은 "흰 배경 위 검은 원" — 추상 도형이라고 묘사.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그런데 Qwen2.5-VL: "공이 중력으로 떨어진다." 같이 *물리* 용어로 응답.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이게 shortcut: 시각 증거는 abstract / physical 둘 다와 호환되지만, 모델이 한 쪽으로 collapse.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기존 문헌 (Eyes Wide Shut, Tong et al. 2024 등) 이 anecdotal 하게 보고했지만 *어디서 일어나는지* 는 미해결.</a:t>
            </a:r>
          </a:p>
        </p:txBody>
      </p:sp>
      <p:pic>
        <p:nvPicPr>
          <p:cNvPr id="6" name="Picture 5" descr="01_line_blank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554480"/>
            <a:ext cx="41148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512064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  <a:latin typeface="Malgun Gothic"/>
              </a:rPr>
              <a:t>본 연구의 baseline 자극: line/blank/none. Qwen 응답 → 물리, 사람 → 추상.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본 연구의 핵심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언제 / 어디서 / 어떻게 — 세 가지 차원에서 shortcut 을 localize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>
                <a:solidFill>
                  <a:srgbClr val="333333"/>
                </a:solidFill>
                <a:latin typeface="Malgun Gothic"/>
              </a:rPr>
              <a:t>• [행동] 어떤 자극에서, 어떤 모델에서, shortcut 이 얼마나 강한가? 어떤 행동 시그니처가 있는가?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333333"/>
                </a:solidFill>
                <a:latin typeface="Malgun Gothic"/>
              </a:rPr>
              <a:t>• [메커니즘] 모델 내부에서 추상→물리 결정이 *어디서* 일어나는가? 특정 LM 레이어 / 방향이 행동을 인과적으로 결정하는가?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333333"/>
                </a:solidFill>
                <a:latin typeface="Malgun Gothic"/>
              </a:rPr>
              <a:t>• [픽셀] shortcut 이 이미지 자체에 *인코드 가능* 한가? 픽셀에 작은 perturbation 을 가해서 행동을 뒤집을 수 있는가? 이게 가능하다면, 어떤 architecture 에서 가능한가?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주요 기여 3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>
                <a:solidFill>
                  <a:srgbClr val="333333"/>
                </a:solidFill>
                <a:latin typeface="Malgun Gothic"/>
              </a:rPr>
              <a:t>• **Architecture-level reframe**: 5 model × 3 stim source × bootstrap CI 로, 행동 PMR ceiling 이 *encoder representational capacity 만으로* 결정되지 않음을 disconfirm. 결정자는 **joint encoder + LM (architecture 수준)**.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333333"/>
                </a:solidFill>
                <a:latin typeface="Malgun Gothic"/>
              </a:rPr>
              <a:t>• **Causal localization**: Qwen2.5-VL 의 LM layer 10 에 단일 선형 방향 `v_L10` 이 존재. forward-hook 으로 +α=40 더하면 line/blank/none stim 의 10/10 이 "D: abstract" → "B: stays still" flip. 다른 layer 는 같은 α 로 안 움직임.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333333"/>
                </a:solidFill>
                <a:latin typeface="Malgun Gothic"/>
              </a:rPr>
              <a:t>• **Pixel encodability — architecture-conditional**: 픽셀-공간 gradient ascent 가 **5 모델 중 3 모델 testable** 에서 PMR flip 가능 (Qwen / LLaVA-Next / LLaVA-1.5). **Idefics2 9 레이어 (L5-L31) 모두 0 shortcuts → wrong-relative-depth falsified, perceiver-resampler 후보**. InternVL3 protocol-saturated. 상세 설명은 Slide 19-20 참조.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관련 연구 — VLM grounding-failure / shortcut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**Eyes Wide Shut** (Tong et al., 2024) — VLM 이 놓치는 visual primitives. MoF (Mixture-of-Features) 제안.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**Vision-language grounding failure** 분석 (다수). 행동적 관찰 위주 — 어디서 실패하는지 알지만 *왜* 그곳에서 *어떻게* 실패하는지 메커니즘 분석 부재.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**Language-prior dominance** 가 VLM benchmark 에서 anecdotal 하게 보고 — circle vs ball label 이 같은 이미지에서 다른 응답을 유도, 본 연구의 H7 (label-selects-regime) 의 사전 관찰.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**한계**: 기존 연구는 행동 수준 (output 통계) 에서 정지. *어느 레이어 / 방향* 이 결정하는지의 mechanism-level localization 은 VLM 에 거의 적용 안 됨.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관련 연구 — Probing / Causal interpretability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**Linear probing** (Alain &amp; Bengio; Belrose et al.) — hidden state 가 어떤 정보를 인코드하는지 logistic regression 으로 측정.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**Logit lens** (nostalgebraist; tuned lens — Belrose et al.) — 각 레이어에서 vocab projection 으로 "중간 결정" 추적.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**Activation patching / SIP** (Wang et al.; Conmy et al.) — clean run 의 hidden state 를 corrupted run 에 patch 하여 indirect effect 측정. LM 에 적용; VLM 에는 부분적.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**VTI steering vectors / class-mean directions** (Burns et al. 등). physics-mode = 1 vs = 0 의 hidden state 평균 차이로 "physics-mode 방향" 추출, runtime intervention.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**Adversarial / feature visualization** (Goodfellow et al.; Madry et al.; Olah et al.). 본 §4.6 은 후자에 가까움 — class-mean 방향을 target 으로 한 픽셀-공간 feature visualization.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문제 정의 — 두 차원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행동 (PMR / GAR / RC) + 메커니즘 (probe / steering / pixel-encoding)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E4A7F"/>
                </a:solidFill>
                <a:latin typeface="Malgun Gothic"/>
              </a:rPr>
              <a:t>행동 (Behavioral)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PMR — 응답에 물리 동사 포함 비율 ("falls", "rolls")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GAR — gravity-align rate (PMR 의 부분, 하방 운동)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RC — response consistency (T=0.7 seed 간 일관성)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E4A7F"/>
                </a:solidFill>
                <a:latin typeface="Malgun Gothic"/>
              </a:rPr>
              <a:t>메커니즘 (Mechanistic)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Vision encoder probe AUC — 인코더가 추상 vs 물리 cell 을 선형 분리할 수 있는가?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LM logit lens — 각 LM 레이어에서 visual-token 위치의 hidden state 가 PMR 을 예측하는가?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Causal intervention — `α · v_L10` 을 forward hook 으로 더하면 출력이 뒤집히는가?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Pixel encoding — 픽셀 공간 gradient ascent 가 행동을 뒤집는가?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자극 설계 — M2 5축 factorial (2880 stim)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object_level × bg_level × cue_level × event × seed</a:t>
            </a:r>
          </a:p>
        </p:txBody>
      </p:sp>
      <p:pic>
        <p:nvPicPr>
          <p:cNvPr id="5" name="Picture 4" descr="01_line_blank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82880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0175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Malgun Gothic"/>
              </a:rPr>
              <a:t>line/blank/none
(가장 추상)</a:t>
            </a:r>
          </a:p>
        </p:txBody>
      </p:sp>
      <p:pic>
        <p:nvPicPr>
          <p:cNvPr id="7" name="Picture 6" descr="02_line_ground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1188720"/>
            <a:ext cx="1828800" cy="1828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423160" y="30175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Malgun Gothic"/>
              </a:rPr>
              <a:t>line/ground/none
(+ 지면)</a:t>
            </a:r>
          </a:p>
        </p:txBody>
      </p:sp>
      <p:pic>
        <p:nvPicPr>
          <p:cNvPr id="9" name="Picture 8" descr="03_shaded_ground_n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188720"/>
            <a:ext cx="1828800" cy="182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89120" y="30175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Malgun Gothic"/>
              </a:rPr>
              <a:t>shaded/ground/none
(3D 공)</a:t>
            </a:r>
          </a:p>
        </p:txBody>
      </p:sp>
      <p:pic>
        <p:nvPicPr>
          <p:cNvPr id="11" name="Picture 10" descr="04_textured_ground_arrow_shad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383280"/>
            <a:ext cx="1828800" cy="1828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2120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Malgun Gothic"/>
              </a:rPr>
              <a:t>textured/ground/
arrow_shadow
(최대 cue)</a:t>
            </a:r>
          </a:p>
        </p:txBody>
      </p:sp>
      <p:pic>
        <p:nvPicPr>
          <p:cNvPr id="13" name="Picture 12" descr="05_filled_blank_wi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3160" y="3383280"/>
            <a:ext cx="1828800" cy="1828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23160" y="52120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Malgun Gothic"/>
              </a:rPr>
              <a:t>filled/blank/wind
(바람 cue)</a:t>
            </a:r>
          </a:p>
        </p:txBody>
      </p:sp>
      <p:pic>
        <p:nvPicPr>
          <p:cNvPr id="15" name="Picture 14" descr="06_textured_blank_no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9120" y="3383280"/>
            <a:ext cx="1828800" cy="1828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89120" y="52120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Malgun Gothic"/>
              </a:rPr>
              <a:t>textured/blank/none
(텍스처만)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2801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**4 object_level**: line / filled / shaded / textured — 추상화 축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**3 bg_level**: blank / ground / scene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**4 cue_level**: none / cast_shadow / motion_arrow / both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**3 event**: fall / rise / horizontal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**10 seeds** × 3 prompts (open / FC / label-free) × 3 labels (circle / ball / planet) = 2880 추론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M2 = 본 연구의 핵심 자극 set. M8a (5 도형), M8d (3 카테고리), M8c (실사진) 가 외부 타당성 확장.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메트릭 정의 (정량 측정)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모두 응답 텍스트 위 rule-based scorer; bootstrap 5000-iter CI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62865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Metric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정의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예시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PMR(_label)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physics-mode reading rate. label 프롬프트 ("the ball...") 응답에서 물리 동사 포함 비율.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ball: 0.86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PMR(_nolabel)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label 없는 open-ended 프롬프트 ("What do you see?") 응답에서의 PMR.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Qwen: 0.94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GAR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gravity-align rate — 응답에서 *하방* 운동 (falls, drops) 비율 (PMR 의 부분).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ball: 0.79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RC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response consistency — T=0.7 sampling N seed 간 *같은 PMR call* 비율.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0.918 (M2 평균)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Paired-delta H2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PMR(label) − PMR(_nolabel) — label 효과 (per stim 매칭).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LLaVA ball: +0.475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Class-mean v_L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mean(h_L | PMR=1) − mean(h_L | PMR=0). "physics-mode 방향" 추정.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Qwen v_L10 dim 3584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v_L projection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샘플 hidden h_L 을 v_L 단위 벡터에 사영. "physics-mode 강도".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M2 cue=both 평균 42.7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테스트 모델 — 5 개 오픈소스 VLM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동일 generic loader (AutoModelForImageTextToText) 로 cross-model 비교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Model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Vision encoder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LM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이미지 처리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Qwen2.5-VL-7B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SigLIP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Qwen2-7B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동적 504×504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LLaVA-1.5-7B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CLIP-ViT-L/14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Vicuna-7B (LLaMA-2)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고정 336×336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LLaVA-Next-7B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CLIP-ViT-L/14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Mistral-7B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AnyRes 5-tile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Idefics2-8B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SigLIP-SO400M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Mistral-7B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384×384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InternVL3-8B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InternViT-300M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InternLM3-8B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동적 448×448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Encoder 계열: SigLIP × 2 (Qwen, Idefics2 SO400M), CLIP × 2 (LLaVA-1.5, LLaVA-Next), InternViT × 1 (InternVL3).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LM 계열: Qwen2 × 1, Vicuna × 1, Mistral × 2, InternLM3 × 1.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Cross-encoder + cross-LM 비교가 architecture-level 효과를 분리해내는 데 사용됨 (§4.5 Idefics2 swap, M6 r6 LLaVA-1.5 ↔ LLaVA-Next).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파이프라인 — stim → inference → score → probe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**[1] Stimulus generation** — `scripts/01_generate_stimuli.py` 가 EvalConfig + FactorialSpec 으로부터 PIL stim 생성 (PIL/matplotlib).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**[2] Inference** — `scripts/02_run_inference.py` 가 generic AutoModelForImageTextToText 로 모든 모델 실행. predictions.{jsonl, parquet, csv} 저장. crash-safe streaming flush.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**[3] Activation capture** (옵션) — `capture_lm_layers=(5,10,15,20,25)` 와 `capture_vision_layers=(3,7,11,15,19,23)` forward hook 으로 LM / vision 활성화 safetensors 저장.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**[4] Scoring** — `physical_mode.metrics.pmr.score_pmr()` rule-based scorer (다국어 stem; abstract marker gating). hand-validation 5-6% disagreement.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**[5] Probing** — Linear logistic regression on captured activations with `behavioral_y` (PMR call) or `stim_y` (factorial label).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**[6] Causal intervention** — `scripts/06_vti_steering.py` 와 `scripts/sec4_6_counterfactual_stim.py` 가 forward-hook + pixel-space gradient ascent 적용.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활성화 캡처 + 선형 프로빙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"인코더가 추상 vs 물리를 선형 분리하는가?" / "LM 의 어느 레이어가?"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Vision encoder 의 selected layers (3, 7, 11, 15, 19, 23) 에 forward hook → 시각 토큰 위치의 hidden state mean-pool → 로지스틱 회귀 (sklearn) → 5-fold AUC.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LM 의 selected layers (5, 10, 15, 20, 25) 에 동일 처리, *시각 토큰 위치만* 마스킹.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Y-target 두 가지: **behavioral_y** (per-stim PMR call) 또는 **stim_y** (factorial cell label, 예: 도형 이름).</a:t>
            </a:r>
          </a:p>
        </p:txBody>
      </p:sp>
      <p:pic>
        <p:nvPicPr>
          <p:cNvPr id="6" name="Picture 5" descr="encoder_chain_5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383280"/>
            <a:ext cx="7315200" cy="26107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286000" y="5943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  <a:latin typeface="Malgun Gothic"/>
              </a:rPr>
              <a:t>5 모델 vision encoder probe AUC chain (M8a stim).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인과 개입 — VTI steering + §4.6 픽셀 ascent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E4A7F"/>
                </a:solidFill>
                <a:latin typeface="Malgun Gothic"/>
              </a:rPr>
              <a:t>M5a — runtime VTI steering (forward hook)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**v_L 추출**: v_L = mean(h_L | PMR=1) − mean(h_L | PMR=0); v_unit_L = v_L / ||v_L||.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**개입**: model.model.language_model.layers[L] 의 forward 출력 hidden_states 에 `α · v_unit_L` 더함 (모든 token position 균일).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L ∈ {10, 15, 20, 25}, α ∈ {0, 5, 10, 20, 40, −α}, T=0.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E4A7F"/>
                </a:solidFill>
                <a:latin typeface="Malgun Gothic"/>
              </a:rPr>
              <a:t>§4.6 — pixel-space gradient ascent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**최적화 변수**: post-processor `pixel_values` tensor (Qwen: T_patches × 1176; LLaVA-1.5: 1×3×336×336).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**목적함수**: `&lt;mean(h_L10[visual]), v_L10&gt;` 최대화. Adam, lr=1e-2, n_steps=200. float32 leaf → bf16 cast 로 vision tower → projector → LM 0..10 미분 가능.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**제약**: L_∞-bounded (`δ.clamp_(-eps, eps)`) ε ∈ {0.05, 0.1, 0.2} or unconstrained. Random unit-direction control 매칭 ε=0.1.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결과 (1) — 5-model M2-stim PMR 사다리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동일 480 stim × 3 라벨 + label-free; 5000-iter bootstrap CI</a:t>
            </a:r>
          </a:p>
        </p:txBody>
      </p:sp>
      <p:pic>
        <p:nvPicPr>
          <p:cNvPr id="5" name="Picture 4" descr="m2_cross_model_pmr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772400" cy="4195384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0" y="1554480"/>
          <a:ext cx="34747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</a:tblGrid>
              <a:tr h="5334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Model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PMR(_nolabel)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Cluster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LLaVA-1.5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0.383 [0.34, 0.43]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**Floor (CLIP+Vicuna)**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LLaVA-Next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0.790 [0.75, 0.83]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Mid (CLIP+Mistral+AnyRes)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Qwen2.5-VL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0.938 [0.92, 0.96]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Saturated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Idefics2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0.967 [0.95, 0.98]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Saturated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InternVL3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0.988 [0.98, 1.00]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algun Gothic"/>
                        </a:rPr>
                        <a:t>Saturated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0" y="5029200"/>
            <a:ext cx="3474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Malgun Gothic"/>
              </a:rPr>
              <a:t>**핵심**: 같은 인코더 계열 (CLIP) 에서도 PMR 0.18 ↔ 0.70 — encoder family 단독으로 결정되지 않음.
→ Architecture-level reframe.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결과 (2) — H1 abstraction ramp 모델별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LLaVA-1.5 만 깨끗한 monotone S-curve; 다른 모델은 천장</a:t>
            </a:r>
          </a:p>
        </p:txBody>
      </p:sp>
      <p:pic>
        <p:nvPicPr>
          <p:cNvPr id="5" name="Picture 4" descr="m2_cross_model_h1_ra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772400" cy="4614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28016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LLaVA-1.5: 0.51 → 0.81 (range +0.30, 가장 깔끔)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LLaVA-Next: range +0.14 (부분 saturate)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Qwen / Idefics2 / InternVL3: range ≤ +0.09 (천장)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**해석**: H1 ramp 는 *unsaturated 인코더* 에서만 측정 가능. 포화된 모델은 axis 가 압축됨.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결과 (3) — H2 paired-delta: 3가지 architecture-conditional 패턴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PMR(label) − PMR(_nolabel) 의 모델별 부호 패턴이 saturation 과 일치</a:t>
            </a:r>
          </a:p>
        </p:txBody>
      </p:sp>
      <p:pic>
        <p:nvPicPr>
          <p:cNvPr id="5" name="Picture 4" descr="m2_cross_model_h2_paired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37018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18872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**LLaVA-1.5 / LLaVA-Next** (unsaturated CLIP): 모든 라벨 양수. ball Δ=+0.475 (LLaVA-1.5) / +0.190 (LLaVA-Next).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**Qwen / Idefics2** (포화 SigLIP-계열): 비대칭 — 비-물리 라벨 (circle, planet) 이 baseline *아래로* 억제 "circle override".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**InternVL3** (완전 포화): 모든 Δ ≈ 0.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→ H2 가 "항상 라벨이 PMR 을 더한다" 가 아님. **encoder saturation 이 어느 패턴이 적용되는지를 결정**.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결과 (4) — Vision encoder probe (5-model AUC chain)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비-CLIP cluster ≥ 0.88; CLIP-ViT-L 만 그 아래</a:t>
            </a:r>
          </a:p>
        </p:txBody>
      </p:sp>
      <p:pic>
        <p:nvPicPr>
          <p:cNvPr id="5" name="Picture 4" descr="encoder_chain_5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772400" cy="2773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55448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Qwen SigLIP: AUC 0.99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Idefics2 SigLIP-SO400M: 0.93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InternVL3 InternViT: 0.89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LLaVA-Next CLIP-ViT-L: 0.77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LLaVA-1.5 CLIP-ViT-L: 0.73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**Stim-defined Y target 으로 모든 인코더 AUC = 1.0** — 인코더 표현능력은 균일.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**인코더 차이는 PMR 차이를 직접 설명하지 못함** (0.77 vs 0.93 vs 행동 PMR 0.18 vs 0.88).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결과 (5) — M5a VTI causal steering: L10 only flips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line/blank/none 10/10 baseline → L10 α=40 만에서 "D: abstract" → "B: stays still"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4A7F"/>
                </a:solidFill>
                <a:latin typeface="Malgun Gothic"/>
              </a:rPr>
              <a:t>First-letter 응답 분포 (forced-choice)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6858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143000"/>
                <a:gridCol w="1143000"/>
                <a:gridCol w="1143000"/>
                <a:gridCol w="1143000"/>
                <a:gridCol w="114300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layer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α=0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α=5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α=10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α=20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α=40</a:t>
                      </a:r>
                    </a:p>
                  </a:txBody>
                  <a:tcPr>
                    <a:solidFill>
                      <a:srgbClr val="2E4A7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**10 B**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15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25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Malgun Gothic"/>
                        </a:rPr>
                        <a:t>10 D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L10 α=40 응답 예: "It stays still — the circle appears to be floating or suspended in space without any external force..." → 추상 도형이 *물리 객체* 로 인식됨 (정지 상태의).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M5a-ext Exp 3: −α=40 도 D → B 로 flip. v_L10 은 단방향 activator 가 아니라 **regime axis** (+α 동적, −α 정적).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→ shortcut 의 *causal locus* 가 LM mid-layer (L10) 에 단일 선형 방향으로 존재.</a:t>
            </a:r>
          </a:p>
        </p:txBody>
      </p:sp>
      <p:pic>
        <p:nvPicPr>
          <p:cNvPr id="8" name="Picture 7" descr="01_line_blank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3657600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36576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  <a:latin typeface="Malgun Gothic"/>
              </a:rPr>
              <a:t>Steered 자극: line/blank/none.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결과 (6) — §4.6 픽셀-공간 gradient ascent (Qwen)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ε=0.05 에서 5/5 v_L10 flip; 매칭 random 0/15 — 방향 특이성</a:t>
            </a:r>
          </a:p>
        </p:txBody>
      </p:sp>
      <p:pic>
        <p:nvPicPr>
          <p:cNvPr id="5" name="Picture 4" descr="sec4_6_counterfactual_stim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0972800" cy="43063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0292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  <a:latin typeface="Malgun Gothic"/>
              </a:rPr>
              <a:t>baseline → ε=0.05 → ε=0.1 → unconstrained. 작은 ε 에서 abstract 원의 형태는 보존; 픽셀 노이즈만 추가됨에도 모델은 "공이 떨어진다" 라고 응답함.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응답: "The circle will continue to fall downward due to gravity." vs random control: "The circle will remain stationary as there is no indication of movement." → 방향 특이성, magnitude 가 아님.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결과 (7) — §4.6 cross-model layer sweep (n=10) + Idefics2 9-layer disambiguation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3 of 5 testable architectures supports pixel-encodability; Idefics2 falsifies (L5-L31), perceiver-resampler 후보</a:t>
            </a:r>
          </a:p>
        </p:txBody>
      </p:sp>
      <p:pic>
        <p:nvPicPr>
          <p:cNvPr id="5" name="Picture 4" descr="sec4_6_cross_model_layer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7772400" cy="52384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512064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  <a:latin typeface="Malgun Gothic"/>
              </a:rPr>
              <a:t>5 모델 × LM 레이어 별 PMR flip rate (n=10, ε=0.1, Wilson 95% CI). Idefics2 panel 은 9 레이어 (L5-L31, 16-97% relative depth) 표시.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18872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>
                <a:solidFill>
                  <a:srgbClr val="333333"/>
                </a:solidFill>
                <a:latin typeface="Malgun Gothic"/>
              </a:rPr>
              <a:t>• **Qwen** (SigLIP+Qwen2): broad shortcuts at L5/10/15/20/25 (Wilson 하한 0.49–0.72).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333333"/>
                </a:solidFill>
                <a:latin typeface="Malgun Gothic"/>
              </a:rPr>
              <a:t>• **LLaVA-Next** (CLIP+AnyRes+Mistral): L20+L25 모두 10/10.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333333"/>
                </a:solidFill>
                <a:latin typeface="Malgun Gothic"/>
              </a:rPr>
              <a:t>• **LLaVA-1.5** (CLIP+Vicuna): L25 only, 4/10 (n=10 에서 약화).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333333"/>
                </a:solidFill>
                <a:latin typeface="Malgun Gothic"/>
              </a:rPr>
              <a:t>• **Idefics2** (SigLIP-SO400M + perceiver-resampler + Mistral): **9 레이어 모두 0/10** (1 isolated noise hit at L28 on different stim than L25). v_L projection 은 정상 ascending (-11→+28 at L26-30, -72→+163 at L31). **Wrong-relative-depth falsified**.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333333"/>
                </a:solidFill>
                <a:latin typeface="Malgun Gothic"/>
              </a:rPr>
              <a:t>• **InternVL3**: protocol-saturated (baseline_pmr=1.0).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333333"/>
                </a:solidFill>
                <a:latin typeface="Malgun Gothic"/>
              </a:rPr>
              <a:t>• **Random controls**: 1/250 trials in aggregate.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56692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**해석**: pixel-encodability 는 architecture-conditional. **Encoder saturation 만으로는 부족** — Idefics2 (SigLIP-SO400M, AUC 0.93) 는 Qwen/LLaVA-Next 보다 saturated 된 인코더지만 0 shortcuts.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**Perceiver-resampler 후보**: Idefics2 만 perceiver projector (다른 모델은 MLP). 5-model design 은 isolate 못함 (encoder + projector + AnyRes 동시 다름) — controlled projector-swap 필요.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결과 (8) — 외부 타당성 (M8a / M8d / M8c)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비-원 도형 / 비-공 카테고리 / 실사진</a:t>
            </a:r>
          </a:p>
        </p:txBody>
      </p:sp>
      <p:pic>
        <p:nvPicPr>
          <p:cNvPr id="5" name="Picture 4" descr="m8a_shape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3840480" cy="4773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02336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  <a:latin typeface="Malgun Gothic"/>
              </a:rPr>
              <a:t>M8a 5×4: 5 도형 × 4 추상화 레벨</a:t>
            </a:r>
          </a:p>
        </p:txBody>
      </p:sp>
      <p:pic>
        <p:nvPicPr>
          <p:cNvPr id="7" name="Picture 6" descr="m8d_full_scene_samp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188720"/>
            <a:ext cx="3840480" cy="180381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89120" y="402336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  <a:latin typeface="Malgun Gothic"/>
              </a:rPr>
              <a:t>M8d: 카테고리 × 이벤트 (car / person / bird)</a:t>
            </a:r>
          </a:p>
        </p:txBody>
      </p:sp>
      <p:pic>
        <p:nvPicPr>
          <p:cNvPr id="9" name="Picture 8" descr="m8c_photo_g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1188720"/>
            <a:ext cx="3474720" cy="46457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0" y="402336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  <a:latin typeface="Malgun Gothic"/>
              </a:rPr>
              <a:t>M8c: 60 실사진 × 5 카테고리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**M8a strict scoring**: Qwen 1/4 (천장), LLaVA 4/4 — 비대칭 그 자체가 saturation 가설의 cross-shape 검증.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**M8d**: LLaVA 3/3 H7 PASS (car/person/bird). Qwen ceiling-flat.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**M8c**: 사진은 인코더 격차를 *압축* (모든 모델 PMR [0.18, 0.67] 수렴) — saturation 의 co-factor 는 "input-context simplicity" 도 포함.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결과 (9) — Multilingual labels (§4.3): 5 모델 × 한·일 언어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한국어 (공/원/행성), 일본어 (ボール/円/惑星) 라벨로 H2 cross-language 테스트</a:t>
            </a:r>
          </a:p>
        </p:txBody>
      </p:sp>
      <p:pic>
        <p:nvPicPr>
          <p:cNvPr id="5" name="Picture 4" descr="sec4_3_korean_vs_english_cross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18409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18872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Cross-label ordering 한국어에서 4/5 모델 보존 (planet &gt; ball &gt; circle).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LLaVA-1.5 가 가장 큰 swing (avg |Δ| = 0.11) — Vicuna 의 한국어 coverage 가 가장 약함.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**일본어** 는 다른 mechanism 노출: Qwen genuinely engages JA (label-echo 85-91%); LLaVA-1.5 internally translates kanji to English; **Idefics2 falls back to Chinese on 惑星** (24%).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333333"/>
                </a:solidFill>
                <a:latin typeface="Malgun Gothic"/>
              </a:rPr>
              <a:t>• Scorer 다국어 확장 (KO/JA/CN substring matching, 51→54 케이스).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Discussion (1) — Architecture-level reframe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3가지 saturation 시그니처가 동일 architectural 속성의 다른 측면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>
                <a:solidFill>
                  <a:srgbClr val="333333"/>
                </a:solidFill>
                <a:latin typeface="Malgun Gothic"/>
              </a:rPr>
              <a:t>• **Signature 1 — PMR ceiling** (M9 paper Table 1): 행동 PMR 이 non-CLIP cluster [0.80, 0.92] 와 CLIP cluster [0.14, 0.37] 로 분리. 사진에서는 [0.18, 0.67] 로 수렴.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333333"/>
                </a:solidFill>
                <a:latin typeface="Malgun Gothic"/>
              </a:rPr>
              <a:t>• **Signature 2 — Decision-stability ceiling** (§4.7): non-CLIP 모델 (Qwen / Idefics2 / InternVL3) 이 cue 발화 시 5 seed 모두 같은 PMR call 로 수렴 (RC ≈ 1.0). CLIP-기반 모델은 강한 cue 에서도 seed-level variance 보유.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**Signature 3 — Pixel encodability** (§4.6 5-model n=10 layer sweep + Idefics2 9-layer disambiguation): **3 of 5 testable** architectures 가 픽셀-공간 gradient ascent 로 PMR flip (Qwen broad, LLaVA-Next L20+L25, LLaVA-1.5 L25 weak). Idefics2 는 L5-L31 9 레이어 모두 0 — **perceiver-resampler bottleneck 후보** (projector isolation 미검증). InternVL3 protocol-saturated.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333333"/>
                </a:solidFill>
                <a:latin typeface="Malgun Gothic"/>
              </a:rPr>
              <a:t>• 3가지 signature 가 **동일한 architecture-level saturation 속성** 의 다른 표현. "encoder representational capacity 만으로 결정" 이라는 단순 인코더 가설은 disconfirm — joint encoder + LM + **projector design** (MLP vs perceiver) 이 결정자.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Discussion (2) — 한계 및 미해결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**Projector isolation 미검증**: §4.6 5-model design 은 Idefics2 가 MLP-projector 모델들과 encoder + projector + AnyRes 동시에 다름. Perceiver-resampler 가 leading remaining candidate 이지만 controlled projector-swap test (동일 encoder/LM 에서 perceiver↔MLP) 은 재학습 필요 — out of scope.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**LM-only counterfactual 부재**: LLaVA-1.5 → LLaVA-Next 의 0.52 PMR jump 는 4축 confound (AnyRes / projector / training / LM family). 동일 인코더 LM-swap 은 future work.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**InternVL3 untestable** under §4.6 protocol: `line_blank_none_fall_*` baseline_pmr=1.0. Alternative-baseline stim 탐색 필요.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**v_L10 은 1-d class-mean 축**: SAE / multi-axis decomposition 으로 pixel-encodable 한 *다른* 방향이 있을 수 있음. **2026-04-28 Cross-model SAE 4 모델 학습 완료** (LLaVA-1.5/Next/Idefics2/InternVL3); intervention runs 가 다음 단계.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**Single-task evaluation**: "next-state-prediction" 만 검증. 다른 shortcut 행동 (counting / spatial / causality) 은 미검증.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**Human baseline 미수집**: M7 Prolific (20 raters × 50 stim) paper-blocking, 다음 단계.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333333"/>
                </a:solidFill>
                <a:latin typeface="Malgun Gothic"/>
              </a:rPr>
              <a:t>• **ST5 prompt-steering (Gavrikov 2024)**: 명시적 "abstract / physical" prompt steering 은 **paper scope 에서 retire** — prompt-variation axis 는 §4.3 KO/JA + label-free + open vs FC 로 cover.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914400"/>
          </a:xfrm>
          <a:prstGeom prst="rect">
            <a:avLst/>
          </a:prstGeom>
          <a:solidFill>
            <a:srgbClr val="2E4A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2E4A7F"/>
                </a:solidFill>
                <a:latin typeface="Malgun Gothic"/>
              </a:rPr>
              <a:t>결론 — 3 가지 paper-grade 기여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Malgun Gothic"/>
              </a:rPr>
              <a:t>VLM 의 추상→물리 shortcut 을 행동 / 인과 / 픽셀 3차원으로 localize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>
                <a:solidFill>
                  <a:srgbClr val="333333"/>
                </a:solidFill>
                <a:latin typeface="Malgun Gothic"/>
              </a:rPr>
              <a:t>• **[기여 1] Architecture-level reframe**. 5 모델 × 3 stim source × bootstrap CI 로, 행동 PMR ceiling 이 encoder representational capacity *만으로* 결정되지 않음을 disconfirm. 2-CLIP-point insight (LLaVA-1.5 vs LLaVA-Next) 가 가장 깨끗한 disconfirmer.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333333"/>
                </a:solidFill>
                <a:latin typeface="Malgun Gothic"/>
              </a:rPr>
              <a:t>• **[기여 2] 인과 localization**. Qwen2.5-VL 의 LM L10 단일 선형 방향 v_L10 이 forward-hook 으로 행동을 인과적으로 뒤집음 (10/10 α=40). M5a-ext: v_L10 은 regime axis (+ kinetic / − static), binary toggle 아님.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333333"/>
                </a:solidFill>
                <a:latin typeface="Malgun Gothic"/>
              </a:rPr>
              <a:t>• **[기여 3] Pixel encodability — architecture-conditional**. 5-model n=10 layer sweep + Idefics2 9-layer disambiguation: **3 of 5 testable architectures** 가 픽셀-공간 gradient ascent 로 PMR flip 가능 (Qwen broad / LLaVA-Next L20+L25 / LLaVA-1.5 L25 weak). Idefics2 는 L5-L31 9 레이어 모두 0 → **wrong-relative-depth falsified, perceiver-resampler 후보** (projector isolation 은 controlled swap 필요, out of scope). InternVL3 protocol-saturated. Random 1/250 in aggregate. M9 PMR-ceiling / §4.7 결정-안정성 ceiling 과 평행한 **세 번째 architecture-level signature**, **projector design 을 추가 disambiguating axis** 로 노출.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Malgun Gothic"/>
              </a:rPr>
              <a:t>VLM 의 추상-물리 shortcut — 5-model 실험과 픽셀-인코드 가능성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CCCCC"/>
                </a:solidFill>
                <a:latin typeface="Malgun Gothic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2E4A7F"/>
                </a:solidFill>
                <a:latin typeface="Malgun Gothic"/>
              </a:rPr>
              <a:t>감사합니다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0">
                <a:solidFill>
                  <a:srgbClr val="333333"/>
                </a:solidFill>
                <a:latin typeface="Malgun Gothic"/>
              </a:rPr>
              <a:t>Q &amp; A · 토론 · 다음 단계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Malgun Gothic"/>
              </a:rPr>
              <a:t>Repo: github.com/namam3gy/physical-mode-activation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Malgun Gothic"/>
              </a:rPr>
              <a:t>동반 자료: docs/review_ppt/physical_mode_paper_ko.md (슬라이드별 상세 설명)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